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6"/>
  </p:notesMasterIdLst>
  <p:sldIdLst>
    <p:sldId id="262" r:id="rId2"/>
    <p:sldId id="274" r:id="rId3"/>
    <p:sldId id="269" r:id="rId4"/>
    <p:sldId id="275" r:id="rId5"/>
    <p:sldId id="276" r:id="rId6"/>
    <p:sldId id="277" r:id="rId7"/>
    <p:sldId id="278" r:id="rId8"/>
    <p:sldId id="279" r:id="rId9"/>
    <p:sldId id="280" r:id="rId10"/>
    <p:sldId id="281" r:id="rId11"/>
    <p:sldId id="282" r:id="rId12"/>
    <p:sldId id="283" r:id="rId13"/>
    <p:sldId id="284" r:id="rId14"/>
    <p:sldId id="266" r:id="rId1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3090"/>
    <a:srgbClr val="000099"/>
    <a:srgbClr val="2E2F98"/>
    <a:srgbClr val="C0D82C"/>
    <a:srgbClr val="FFFF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15" autoAdjust="0"/>
    <p:restoredTop sz="94660"/>
  </p:normalViewPr>
  <p:slideViewPr>
    <p:cSldViewPr snapToGrid="0">
      <p:cViewPr varScale="1">
        <p:scale>
          <a:sx n="91" d="100"/>
          <a:sy n="91" d="100"/>
        </p:scale>
        <p:origin x="326"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68DC72-0701-4922-B9D1-CBFB540736DA}" type="datetimeFigureOut">
              <a:rPr lang="en-IN" smtClean="0"/>
              <a:t>05-05-2026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433DB3-0243-45D5-87FD-27D2F51D2003}" type="slidenum">
              <a:rPr lang="en-IN" smtClean="0"/>
              <a:t>‹#›</a:t>
            </a:fld>
            <a:endParaRPr lang="en-IN"/>
          </a:p>
        </p:txBody>
      </p:sp>
    </p:spTree>
    <p:extLst>
      <p:ext uri="{BB962C8B-B14F-4D97-AF65-F5344CB8AC3E}">
        <p14:creationId xmlns:p14="http://schemas.microsoft.com/office/powerpoint/2010/main" val="1069364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1" y="0"/>
            <a:ext cx="12203372" cy="736270"/>
          </a:xfrm>
          <a:prstGeom prst="rect">
            <a:avLst/>
          </a:prstGeom>
          <a:gradFill>
            <a:gsLst>
              <a:gs pos="0">
                <a:srgbClr val="C0D82C"/>
              </a:gs>
              <a:gs pos="54000">
                <a:srgbClr val="00B0F0"/>
              </a:gs>
              <a:gs pos="100000">
                <a:schemeClr val="tx2">
                  <a:lumMod val="75000"/>
                </a:schemeClr>
              </a:gs>
              <a:gs pos="100000">
                <a:srgbClr val="2E2F98"/>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prstClr val="white"/>
                </a:solidFill>
                <a:latin typeface="Franklin Gothic Demi" pitchFamily="34" charset="0"/>
              </a:rPr>
              <a:t>ACE INSTITUTE OF MANAEGMENT</a:t>
            </a:r>
          </a:p>
        </p:txBody>
      </p:sp>
      <p:pic>
        <p:nvPicPr>
          <p:cNvPr id="14" name="Picture 13">
            <a:extLst>
              <a:ext uri="{FF2B5EF4-FFF2-40B4-BE49-F238E27FC236}">
                <a16:creationId xmlns:a16="http://schemas.microsoft.com/office/drawing/2014/main" id="{B81D8F32-4B7E-234D-7608-8305F6F3046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3777814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cxnSp>
        <p:nvCxnSpPr>
          <p:cNvPr id="8" name="Straight Connector 7"/>
          <p:cNvCxnSpPr/>
          <p:nvPr userDrawn="1"/>
        </p:nvCxnSpPr>
        <p:spPr>
          <a:xfrm>
            <a:off x="0" y="990600"/>
            <a:ext cx="12192000" cy="0"/>
          </a:xfrm>
          <a:prstGeom prst="line">
            <a:avLst/>
          </a:prstGeom>
          <a:ln w="50800">
            <a:solidFill>
              <a:srgbClr val="000099"/>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0" y="6756400"/>
            <a:ext cx="12192000" cy="0"/>
          </a:xfrm>
          <a:prstGeom prst="line">
            <a:avLst/>
          </a:prstGeom>
          <a:ln w="222250">
            <a:solidFill>
              <a:srgbClr val="000099"/>
            </a:solidFill>
          </a:ln>
        </p:spPr>
        <p:style>
          <a:lnRef idx="1">
            <a:schemeClr val="accent1"/>
          </a:lnRef>
          <a:fillRef idx="0">
            <a:schemeClr val="accent1"/>
          </a:fillRef>
          <a:effectRef idx="0">
            <a:schemeClr val="accent1"/>
          </a:effectRef>
          <a:fontRef idx="minor">
            <a:schemeClr val="tx1"/>
          </a:fontRef>
        </p:style>
      </p:cxnSp>
      <p:sp>
        <p:nvSpPr>
          <p:cNvPr id="17"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sp>
        <p:nvSpPr>
          <p:cNvPr id="11" name="Title 1"/>
          <p:cNvSpPr>
            <a:spLocks noGrp="1"/>
          </p:cNvSpPr>
          <p:nvPr>
            <p:ph type="title"/>
          </p:nvPr>
        </p:nvSpPr>
        <p:spPr>
          <a:xfrm>
            <a:off x="240872" y="202991"/>
            <a:ext cx="9389440" cy="554587"/>
          </a:xfrm>
        </p:spPr>
        <p:txBody>
          <a:bodyPr/>
          <a:lstStyle>
            <a:lvl1pPr algn="l">
              <a:defRPr sz="3200" b="1"/>
            </a:lvl1pPr>
          </a:lstStyle>
          <a:p>
            <a:r>
              <a:rPr lang="en-US" dirty="0"/>
              <a:t>Click to edit Master title style</a:t>
            </a:r>
            <a:endParaRPr lang="en-IN" dirty="0"/>
          </a:p>
        </p:txBody>
      </p:sp>
      <p:sp>
        <p:nvSpPr>
          <p:cNvPr id="12" name="Content Placeholder 3"/>
          <p:cNvSpPr>
            <a:spLocks noGrp="1"/>
          </p:cNvSpPr>
          <p:nvPr>
            <p:ph sz="half" idx="2"/>
          </p:nvPr>
        </p:nvSpPr>
        <p:spPr>
          <a:xfrm>
            <a:off x="250576" y="1231143"/>
            <a:ext cx="11690849" cy="5223272"/>
          </a:xfrm>
        </p:spPr>
        <p:txBody>
          <a:bodyPr/>
          <a:lstStyle>
            <a:lvl1pPr>
              <a:defRPr sz="2400">
                <a:latin typeface="Arial" panose="020B0604020202020204" pitchFamily="34" charset="0"/>
                <a:cs typeface="Arial" panose="020B0604020202020204" pitchFamily="34" charset="0"/>
              </a:defRPr>
            </a:lvl1pPr>
            <a:lvl2pPr>
              <a:defRPr sz="2000">
                <a:latin typeface="Arial" panose="020B0604020202020204" pitchFamily="34" charset="0"/>
                <a:cs typeface="Arial" panose="020B0604020202020204" pitchFamily="34" charset="0"/>
              </a:defRPr>
            </a:lvl2pPr>
            <a:lvl3pPr>
              <a:defRPr sz="1800">
                <a:latin typeface="Arial" panose="020B0604020202020204" pitchFamily="34" charset="0"/>
                <a:cs typeface="Arial" panose="020B0604020202020204" pitchFamily="34" charset="0"/>
              </a:defRPr>
            </a:lvl3pPr>
            <a:lvl4pPr>
              <a:defRPr sz="1600">
                <a:latin typeface="Arial" panose="020B0604020202020204" pitchFamily="34" charset="0"/>
                <a:cs typeface="Arial" panose="020B0604020202020204" pitchFamily="34" charset="0"/>
              </a:defRPr>
            </a:lvl4pPr>
            <a:lvl5pPr>
              <a:defRPr sz="1600">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3" name="Picture 2">
            <a:extLst>
              <a:ext uri="{FF2B5EF4-FFF2-40B4-BE49-F238E27FC236}">
                <a16:creationId xmlns:a16="http://schemas.microsoft.com/office/drawing/2014/main" id="{0A0C322A-68A0-418E-1745-0B1A6D7936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1218656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Slide">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lum bright="3000"/>
          </a:blip>
          <a:stretch>
            <a:fillRect/>
          </a:stretch>
        </p:blipFill>
        <p:spPr>
          <a:xfrm>
            <a:off x="2497430" y="2118212"/>
            <a:ext cx="7095541" cy="3510576"/>
          </a:xfrm>
          <a:prstGeom prst="rect">
            <a:avLst/>
          </a:prstGeom>
        </p:spPr>
      </p:pic>
      <p:sp>
        <p:nvSpPr>
          <p:cNvPr id="2" name="Title 1"/>
          <p:cNvSpPr>
            <a:spLocks noGrp="1"/>
          </p:cNvSpPr>
          <p:nvPr>
            <p:ph type="title"/>
          </p:nvPr>
        </p:nvSpPr>
        <p:spPr>
          <a:xfrm>
            <a:off x="240872" y="202991"/>
            <a:ext cx="9389440" cy="554587"/>
          </a:xfrm>
        </p:spPr>
        <p:txBody>
          <a:bodyPr/>
          <a:lstStyle>
            <a:lvl1pPr algn="l">
              <a:defRPr sz="3200" b="1"/>
            </a:lvl1pPr>
          </a:lstStyle>
          <a:p>
            <a:r>
              <a:rPr lang="en-US" dirty="0"/>
              <a:t>Click to edit Master title style</a:t>
            </a:r>
            <a:endParaRPr lang="en-IN" dirty="0"/>
          </a:p>
        </p:txBody>
      </p:sp>
      <p:sp>
        <p:nvSpPr>
          <p:cNvPr id="3" name="Text Placeholder 2"/>
          <p:cNvSpPr>
            <a:spLocks noGrp="1"/>
          </p:cNvSpPr>
          <p:nvPr>
            <p:ph type="body" idx="1"/>
          </p:nvPr>
        </p:nvSpPr>
        <p:spPr>
          <a:xfrm>
            <a:off x="240872" y="1132413"/>
            <a:ext cx="5718139" cy="48063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40872" y="1613044"/>
            <a:ext cx="5718139"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Text Placeholder 4"/>
          <p:cNvSpPr>
            <a:spLocks noGrp="1"/>
          </p:cNvSpPr>
          <p:nvPr>
            <p:ph type="body" sz="quarter" idx="3"/>
          </p:nvPr>
        </p:nvSpPr>
        <p:spPr>
          <a:xfrm>
            <a:off x="6193368" y="1125167"/>
            <a:ext cx="5656161" cy="48787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1613044"/>
            <a:ext cx="5656161" cy="478421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cxnSp>
        <p:nvCxnSpPr>
          <p:cNvPr id="11" name="Straight Connector 10"/>
          <p:cNvCxnSpPr/>
          <p:nvPr userDrawn="1"/>
        </p:nvCxnSpPr>
        <p:spPr>
          <a:xfrm>
            <a:off x="0" y="990600"/>
            <a:ext cx="12192000" cy="0"/>
          </a:xfrm>
          <a:prstGeom prst="line">
            <a:avLst/>
          </a:prstGeom>
          <a:ln w="50800">
            <a:solidFill>
              <a:srgbClr val="000099"/>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a:off x="0" y="6756400"/>
            <a:ext cx="12192000" cy="0"/>
          </a:xfrm>
          <a:prstGeom prst="line">
            <a:avLst/>
          </a:prstGeom>
          <a:ln w="222250">
            <a:solidFill>
              <a:srgbClr val="000099"/>
            </a:solidFill>
          </a:ln>
        </p:spPr>
        <p:style>
          <a:lnRef idx="1">
            <a:schemeClr val="accent1"/>
          </a:lnRef>
          <a:fillRef idx="0">
            <a:schemeClr val="accent1"/>
          </a:fillRef>
          <a:effectRef idx="0">
            <a:schemeClr val="accent1"/>
          </a:effectRef>
          <a:fontRef idx="minor">
            <a:schemeClr val="tx1"/>
          </a:fontRef>
        </p:style>
      </p:cxnSp>
      <p:sp>
        <p:nvSpPr>
          <p:cNvPr id="15"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pic>
        <p:nvPicPr>
          <p:cNvPr id="8" name="Picture 7">
            <a:extLst>
              <a:ext uri="{FF2B5EF4-FFF2-40B4-BE49-F238E27FC236}">
                <a16:creationId xmlns:a16="http://schemas.microsoft.com/office/drawing/2014/main" id="{D4838245-5B6D-3C7C-1921-BCC6F0F5C5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2618922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cxnSp>
        <p:nvCxnSpPr>
          <p:cNvPr id="7" name="Straight Connector 6"/>
          <p:cNvCxnSpPr/>
          <p:nvPr userDrawn="1"/>
        </p:nvCxnSpPr>
        <p:spPr>
          <a:xfrm>
            <a:off x="0" y="990600"/>
            <a:ext cx="12192000" cy="0"/>
          </a:xfrm>
          <a:prstGeom prst="line">
            <a:avLst/>
          </a:prstGeom>
          <a:ln w="50800">
            <a:solidFill>
              <a:srgbClr val="000099"/>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0" y="6756400"/>
            <a:ext cx="12192000" cy="0"/>
          </a:xfrm>
          <a:prstGeom prst="line">
            <a:avLst/>
          </a:prstGeom>
          <a:ln w="222250">
            <a:solidFill>
              <a:srgbClr val="000099"/>
            </a:solidFill>
          </a:ln>
        </p:spPr>
        <p:style>
          <a:lnRef idx="1">
            <a:schemeClr val="accent1"/>
          </a:lnRef>
          <a:fillRef idx="0">
            <a:schemeClr val="accent1"/>
          </a:fillRef>
          <a:effectRef idx="0">
            <a:schemeClr val="accent1"/>
          </a:effectRef>
          <a:fontRef idx="minor">
            <a:schemeClr val="tx1"/>
          </a:fontRef>
        </p:style>
      </p:cxnSp>
      <p:sp>
        <p:nvSpPr>
          <p:cNvPr id="10"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pic>
        <p:nvPicPr>
          <p:cNvPr id="3" name="Picture 2">
            <a:extLst>
              <a:ext uri="{FF2B5EF4-FFF2-40B4-BE49-F238E27FC236}">
                <a16:creationId xmlns:a16="http://schemas.microsoft.com/office/drawing/2014/main" id="{1382D1C4-7436-F71F-5CC8-167D381D6D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71464" y="26634"/>
            <a:ext cx="1734705" cy="664253"/>
          </a:xfrm>
          <a:prstGeom prst="rect">
            <a:avLst/>
          </a:prstGeom>
        </p:spPr>
      </p:pic>
    </p:spTree>
    <p:extLst>
      <p:ext uri="{BB962C8B-B14F-4D97-AF65-F5344CB8AC3E}">
        <p14:creationId xmlns:p14="http://schemas.microsoft.com/office/powerpoint/2010/main" val="77751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17" name="Slide Number Placeholder 5"/>
          <p:cNvSpPr txBox="1">
            <a:spLocks/>
          </p:cNvSpPr>
          <p:nvPr userDrawn="1"/>
        </p:nvSpPr>
        <p:spPr>
          <a:xfrm>
            <a:off x="11176001" y="6607628"/>
            <a:ext cx="1016000" cy="198808"/>
          </a:xfrm>
          <a:prstGeom prst="rect">
            <a:avLst/>
          </a:prstGeom>
        </p:spPr>
        <p:txBody>
          <a:bodyPr/>
          <a:lstStyle>
            <a:defPPr>
              <a:defRPr lang="en-US"/>
            </a:defPPr>
            <a:lvl1pPr algn="l" rtl="0" eaLnBrk="0" fontAlgn="base" hangingPunct="0">
              <a:spcBef>
                <a:spcPct val="0"/>
              </a:spcBef>
              <a:spcAft>
                <a:spcPct val="0"/>
              </a:spcAft>
              <a:defRPr sz="1400" b="1" kern="1200">
                <a:solidFill>
                  <a:schemeClr val="bg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lgn="r">
              <a:defRPr/>
            </a:pPr>
            <a:fld id="{0FF7DBA9-935E-47CE-962B-4680C9109015}" type="slidenum">
              <a:rPr lang="en-US" altLang="en-US" sz="1400" smtClean="0"/>
              <a:pPr algn="r">
                <a:defRPr/>
              </a:pPr>
              <a:t>‹#›</a:t>
            </a:fld>
            <a:endParaRPr lang="en-US" altLang="en-US" sz="1400" dirty="0"/>
          </a:p>
        </p:txBody>
      </p:sp>
      <p:sp>
        <p:nvSpPr>
          <p:cNvPr id="11" name="Title 1"/>
          <p:cNvSpPr>
            <a:spLocks noGrp="1"/>
          </p:cNvSpPr>
          <p:nvPr>
            <p:ph type="title" hasCustomPrompt="1"/>
          </p:nvPr>
        </p:nvSpPr>
        <p:spPr>
          <a:xfrm>
            <a:off x="4485218" y="2971801"/>
            <a:ext cx="3270249" cy="711200"/>
          </a:xfrm>
        </p:spPr>
        <p:txBody>
          <a:bodyPr anchor="t"/>
          <a:lstStyle>
            <a:lvl1pPr algn="ctr">
              <a:defRPr sz="3600" b="1" cap="none"/>
            </a:lvl1pPr>
          </a:lstStyle>
          <a:p>
            <a:r>
              <a:rPr lang="en-US" dirty="0"/>
              <a:t>Thanks…</a:t>
            </a:r>
            <a:endParaRPr lang="en-IN" dirty="0"/>
          </a:p>
        </p:txBody>
      </p:sp>
      <p:cxnSp>
        <p:nvCxnSpPr>
          <p:cNvPr id="12" name="Straight Connector 11"/>
          <p:cNvCxnSpPr/>
          <p:nvPr userDrawn="1"/>
        </p:nvCxnSpPr>
        <p:spPr>
          <a:xfrm>
            <a:off x="4794033" y="3619535"/>
            <a:ext cx="2679404" cy="0"/>
          </a:xfrm>
          <a:prstGeom prst="line">
            <a:avLst/>
          </a:prstGeom>
          <a:ln w="50800">
            <a:solidFill>
              <a:srgbClr val="00009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90766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0" hangingPunct="0">
              <a:defRPr sz="1200">
                <a:solidFill>
                  <a:schemeClr val="tx1">
                    <a:tint val="75000"/>
                  </a:schemeClr>
                </a:solidFill>
                <a:cs typeface="+mn-cs"/>
              </a:defRPr>
            </a:lvl1pPr>
          </a:lstStyle>
          <a:p>
            <a:pPr>
              <a:defRPr/>
            </a:pPr>
            <a:fld id="{247F8E96-40AA-459E-91AA-55A5F97CAAA0}" type="datetime1">
              <a:rPr lang="en-US" smtClean="0">
                <a:solidFill>
                  <a:prstClr val="black">
                    <a:tint val="75000"/>
                  </a:prstClr>
                </a:solidFill>
              </a:rPr>
              <a:t>5/5/2026</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0" hangingPunct="0">
              <a:defRPr sz="1200">
                <a:solidFill>
                  <a:schemeClr val="tx1">
                    <a:tint val="75000"/>
                  </a:schemeClr>
                </a:solidFill>
                <a:cs typeface="+mn-cs"/>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eaLnBrk="0" hangingPunct="0">
              <a:defRPr sz="1200">
                <a:solidFill>
                  <a:schemeClr val="tx1">
                    <a:tint val="75000"/>
                  </a:schemeClr>
                </a:solidFill>
                <a:cs typeface="+mn-cs"/>
              </a:defRPr>
            </a:lvl1pPr>
          </a:lstStyle>
          <a:p>
            <a:pPr>
              <a:defRPr/>
            </a:pPr>
            <a:fld id="{D4CB9294-F9FF-4346-BE48-1C04129C722B}" type="slidenum">
              <a:rPr lang="en-US" altLang="en-US">
                <a:solidFill>
                  <a:prstClr val="black">
                    <a:tint val="75000"/>
                  </a:prstClr>
                </a:solidFill>
              </a:rPr>
              <a:pPr>
                <a:defRPr/>
              </a:pPr>
              <a:t>‹#›</a:t>
            </a:fld>
            <a:endParaRPr lang="en-US" altLang="en-US">
              <a:solidFill>
                <a:prstClr val="black">
                  <a:tint val="75000"/>
                </a:prstClr>
              </a:solidFill>
            </a:endParaRPr>
          </a:p>
        </p:txBody>
      </p:sp>
    </p:spTree>
    <p:extLst>
      <p:ext uri="{BB962C8B-B14F-4D97-AF65-F5344CB8AC3E}">
        <p14:creationId xmlns:p14="http://schemas.microsoft.com/office/powerpoint/2010/main" val="198616290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701" r:id="rId3"/>
    <p:sldLayoutId id="2147483703" r:id="rId4"/>
    <p:sldLayoutId id="2147483708" r:id="rId5"/>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idx="4294967295"/>
          </p:nvPr>
        </p:nvSpPr>
        <p:spPr>
          <a:xfrm>
            <a:off x="2593520" y="2079943"/>
            <a:ext cx="7247166" cy="499336"/>
          </a:xfrm>
        </p:spPr>
        <p:txBody>
          <a:bodyPr/>
          <a:lstStyle>
            <a:lvl1pPr algn="ctr">
              <a:defRPr sz="2800" b="1">
                <a:latin typeface="+mn-lt"/>
              </a:defRPr>
            </a:lvl1pPr>
          </a:lstStyle>
          <a:p>
            <a:r>
              <a:rPr lang="en-US" dirty="0">
                <a:latin typeface="Arial" panose="020B0604020202020204" pitchFamily="34" charset="0"/>
                <a:cs typeface="Arial" panose="020B0604020202020204" pitchFamily="34" charset="0"/>
              </a:rPr>
              <a:t>Title</a:t>
            </a:r>
            <a:endParaRPr lang="en-IN" dirty="0">
              <a:latin typeface="Arial" panose="020B0604020202020204" pitchFamily="34" charset="0"/>
              <a:cs typeface="Arial" panose="020B0604020202020204" pitchFamily="34" charset="0"/>
            </a:endParaRPr>
          </a:p>
        </p:txBody>
      </p:sp>
      <p:sp>
        <p:nvSpPr>
          <p:cNvPr id="9" name="Text Placeholder 2"/>
          <p:cNvSpPr>
            <a:spLocks noGrp="1"/>
          </p:cNvSpPr>
          <p:nvPr>
            <p:ph type="body" idx="4294967295"/>
          </p:nvPr>
        </p:nvSpPr>
        <p:spPr>
          <a:xfrm>
            <a:off x="1435839" y="3882041"/>
            <a:ext cx="7247166" cy="1613154"/>
          </a:xfrm>
        </p:spPr>
        <p:txBody>
          <a:bodyPr anchor="b"/>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lgn="l"/>
            <a:r>
              <a:rPr lang="en-US" dirty="0">
                <a:latin typeface="Arial" panose="020B0604020202020204" pitchFamily="34" charset="0"/>
                <a:cs typeface="Arial" panose="020B0604020202020204" pitchFamily="34" charset="0"/>
              </a:rPr>
              <a:t>Presenters</a:t>
            </a:r>
          </a:p>
          <a:p>
            <a:pPr marL="457200" lvl="0" indent="-457200" algn="l">
              <a:buFont typeface="+mj-lt"/>
              <a:buAutoNum type="arabicPeriod"/>
            </a:pPr>
            <a:r>
              <a:rPr lang="en-US" dirty="0">
                <a:latin typeface="Arial" panose="020B0604020202020204" pitchFamily="34" charset="0"/>
                <a:cs typeface="Arial" panose="020B0604020202020204" pitchFamily="34" charset="0"/>
              </a:rPr>
              <a:t>ROJIN GHIMIRE</a:t>
            </a:r>
          </a:p>
          <a:p>
            <a:pPr marL="457200" lvl="0" indent="-457200" algn="l">
              <a:buFont typeface="+mj-lt"/>
              <a:buAutoNum type="arabicPeriod"/>
            </a:pPr>
            <a:r>
              <a:rPr lang="en-US" dirty="0">
                <a:latin typeface="Arial" panose="020B0604020202020204" pitchFamily="34" charset="0"/>
                <a:cs typeface="Arial" panose="020B0604020202020204" pitchFamily="34" charset="0"/>
              </a:rPr>
              <a:t>PRASHANT KARKI </a:t>
            </a:r>
          </a:p>
          <a:p>
            <a:pPr marL="457200" lvl="0" indent="-457200" algn="l">
              <a:buFont typeface="+mj-lt"/>
              <a:buAutoNum type="arabicPeriod"/>
            </a:pPr>
            <a:r>
              <a:rPr lang="en-US" dirty="0">
                <a:latin typeface="Arial" panose="020B0604020202020204" pitchFamily="34" charset="0"/>
                <a:cs typeface="Arial" panose="020B0604020202020204" pitchFamily="34" charset="0"/>
              </a:rPr>
              <a:t>SHASWAT POKHREL </a:t>
            </a:r>
          </a:p>
          <a:p>
            <a:pPr marL="457200" lvl="0" indent="-457200" algn="l">
              <a:buFont typeface="+mj-lt"/>
              <a:buAutoNum type="arabicPeriod"/>
            </a:pPr>
            <a:r>
              <a:rPr lang="en-US" dirty="0">
                <a:latin typeface="Arial" panose="020B0604020202020204" pitchFamily="34" charset="0"/>
                <a:cs typeface="Arial" panose="020B0604020202020204" pitchFamily="34" charset="0"/>
              </a:rPr>
              <a:t>SUBARNA BAHADUR SHAHI</a:t>
            </a:r>
          </a:p>
          <a:p>
            <a:pPr lvl="0"/>
            <a:endParaRPr lang="en-US" dirty="0">
              <a:latin typeface="Arial" panose="020B0604020202020204" pitchFamily="34" charset="0"/>
              <a:cs typeface="Arial" panose="020B0604020202020204" pitchFamily="34" charset="0"/>
            </a:endParaRPr>
          </a:p>
        </p:txBody>
      </p:sp>
      <p:sp>
        <p:nvSpPr>
          <p:cNvPr id="14" name="Text Placeholder 2"/>
          <p:cNvSpPr>
            <a:spLocks noGrp="1"/>
          </p:cNvSpPr>
          <p:nvPr>
            <p:ph type="body" idx="4294967295"/>
          </p:nvPr>
        </p:nvSpPr>
        <p:spPr>
          <a:xfrm>
            <a:off x="4774658" y="5855921"/>
            <a:ext cx="7247166" cy="423370"/>
          </a:xfrm>
        </p:spPr>
        <p:txBody>
          <a:bodyPr anchor="b"/>
          <a:lstStyle>
            <a:lvl1pPr marL="0" indent="0" algn="ctr">
              <a:buNone/>
              <a:defRPr sz="18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b="1" dirty="0">
                <a:latin typeface="Arial" panose="020B0604020202020204" pitchFamily="34" charset="0"/>
                <a:cs typeface="Arial" panose="020B0604020202020204" pitchFamily="34" charset="0"/>
              </a:rPr>
              <a:t>Under Supervision of Sanju Shrestha</a:t>
            </a:r>
          </a:p>
        </p:txBody>
      </p:sp>
      <p:sp>
        <p:nvSpPr>
          <p:cNvPr id="15" name="Text Placeholder 2"/>
          <p:cNvSpPr>
            <a:spLocks noGrp="1"/>
          </p:cNvSpPr>
          <p:nvPr>
            <p:ph type="body" idx="4294967295"/>
          </p:nvPr>
        </p:nvSpPr>
        <p:spPr>
          <a:xfrm>
            <a:off x="2652243" y="2962486"/>
            <a:ext cx="7247166" cy="423370"/>
          </a:xfrm>
        </p:spPr>
        <p:txBody>
          <a:bodyPr anchor="b"/>
          <a:lstStyle>
            <a:lvl1pPr marL="0" indent="0" algn="ctr">
              <a:buNone/>
              <a:defRPr sz="2000" b="1" i="1">
                <a:solidFill>
                  <a:srgbClr val="000099"/>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dirty="0"/>
              <a:t>Second-Hand Book Marketplace for Students</a:t>
            </a:r>
          </a:p>
          <a:p>
            <a:pPr lvl="0"/>
            <a:endParaRPr lang="en-US" dirty="0">
              <a:solidFill>
                <a:srgbClr val="2E309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2677207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E6A05A-090C-3B41-788C-11332E8559F5}"/>
              </a:ext>
            </a:extLst>
          </p:cNvPr>
          <p:cNvSpPr txBox="1"/>
          <p:nvPr/>
        </p:nvSpPr>
        <p:spPr>
          <a:xfrm>
            <a:off x="570451" y="1040234"/>
            <a:ext cx="3011648" cy="612905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dirty="0"/>
              <a:t>Introduction</a:t>
            </a:r>
          </a:p>
          <a:p>
            <a:pPr marL="285750" indent="-285750">
              <a:lnSpc>
                <a:spcPct val="150000"/>
              </a:lnSpc>
              <a:buFont typeface="Arial" panose="020B0604020202020204" pitchFamily="34" charset="0"/>
              <a:buChar char="•"/>
            </a:pPr>
            <a:r>
              <a:rPr lang="en-US" sz="2400" dirty="0"/>
              <a:t>Problem Statement</a:t>
            </a:r>
          </a:p>
          <a:p>
            <a:pPr marL="285750" indent="-285750">
              <a:lnSpc>
                <a:spcPct val="150000"/>
              </a:lnSpc>
              <a:buFont typeface="Arial" panose="020B0604020202020204" pitchFamily="34" charset="0"/>
              <a:buChar char="•"/>
            </a:pPr>
            <a:r>
              <a:rPr lang="en-US" sz="2400" dirty="0"/>
              <a:t>Literature Review</a:t>
            </a:r>
          </a:p>
          <a:p>
            <a:pPr marL="285750" indent="-285750">
              <a:lnSpc>
                <a:spcPct val="150000"/>
              </a:lnSpc>
              <a:buFont typeface="Arial" panose="020B0604020202020204" pitchFamily="34" charset="0"/>
              <a:buChar char="•"/>
            </a:pPr>
            <a:r>
              <a:rPr lang="en-US" sz="2400" dirty="0"/>
              <a:t>Objectives</a:t>
            </a:r>
          </a:p>
          <a:p>
            <a:pPr marL="285750" indent="-285750">
              <a:lnSpc>
                <a:spcPct val="150000"/>
              </a:lnSpc>
              <a:buFont typeface="Arial" panose="020B0604020202020204" pitchFamily="34" charset="0"/>
              <a:buChar char="•"/>
            </a:pPr>
            <a:r>
              <a:rPr lang="en-US" sz="2400" dirty="0"/>
              <a:t>Methodology</a:t>
            </a:r>
          </a:p>
          <a:p>
            <a:pPr marL="285750" indent="-285750">
              <a:lnSpc>
                <a:spcPct val="150000"/>
              </a:lnSpc>
              <a:buFont typeface="Arial" panose="020B0604020202020204" pitchFamily="34" charset="0"/>
              <a:buChar char="•"/>
            </a:pPr>
            <a:r>
              <a:rPr lang="en-US" sz="2400" dirty="0"/>
              <a:t>Feasibility</a:t>
            </a:r>
          </a:p>
          <a:p>
            <a:pPr marL="285750" indent="-285750">
              <a:lnSpc>
                <a:spcPct val="150000"/>
              </a:lnSpc>
              <a:buFont typeface="Arial" panose="020B0604020202020204" pitchFamily="34" charset="0"/>
              <a:buChar char="•"/>
            </a:pPr>
            <a:r>
              <a:rPr lang="en-US" sz="2400" dirty="0"/>
              <a:t>Gantt Chart</a:t>
            </a:r>
          </a:p>
          <a:p>
            <a:pPr marL="285750" indent="-285750">
              <a:lnSpc>
                <a:spcPct val="150000"/>
              </a:lnSpc>
              <a:buFont typeface="Arial" panose="020B0604020202020204" pitchFamily="34" charset="0"/>
              <a:buChar char="•"/>
            </a:pPr>
            <a:r>
              <a:rPr lang="en-US" sz="2400" dirty="0"/>
              <a:t>Tech Stack</a:t>
            </a:r>
          </a:p>
          <a:p>
            <a:pPr marL="285750" indent="-285750">
              <a:lnSpc>
                <a:spcPct val="150000"/>
              </a:lnSpc>
              <a:buFont typeface="Arial" panose="020B0604020202020204" pitchFamily="34" charset="0"/>
              <a:buChar char="•"/>
            </a:pPr>
            <a:r>
              <a:rPr lang="en-US" sz="2400" dirty="0"/>
              <a:t>Comparison</a:t>
            </a:r>
          </a:p>
          <a:p>
            <a:pPr marL="285750" indent="-285750">
              <a:lnSpc>
                <a:spcPct val="150000"/>
              </a:lnSpc>
              <a:buFont typeface="Arial" panose="020B0604020202020204" pitchFamily="34" charset="0"/>
              <a:buChar char="•"/>
            </a:pPr>
            <a:r>
              <a:rPr lang="en-US" sz="2400" dirty="0"/>
              <a:t>Conclusion</a:t>
            </a:r>
          </a:p>
          <a:p>
            <a:pPr marL="285750" indent="-285750">
              <a:lnSpc>
                <a:spcPct val="150000"/>
              </a:lnSpc>
              <a:buFont typeface="Arial" panose="020B0604020202020204" pitchFamily="34" charset="0"/>
              <a:buChar char="•"/>
            </a:pPr>
            <a:endParaRPr lang="en-US" sz="2400" dirty="0"/>
          </a:p>
        </p:txBody>
      </p:sp>
      <p:sp>
        <p:nvSpPr>
          <p:cNvPr id="3" name="TextBox 2">
            <a:extLst>
              <a:ext uri="{FF2B5EF4-FFF2-40B4-BE49-F238E27FC236}">
                <a16:creationId xmlns:a16="http://schemas.microsoft.com/office/drawing/2014/main" id="{1A4015DC-9B99-6E9B-27BE-03FD0E263AB5}"/>
              </a:ext>
            </a:extLst>
          </p:cNvPr>
          <p:cNvSpPr txBox="1"/>
          <p:nvPr/>
        </p:nvSpPr>
        <p:spPr>
          <a:xfrm>
            <a:off x="453005" y="201336"/>
            <a:ext cx="1309974" cy="461665"/>
          </a:xfrm>
          <a:prstGeom prst="rect">
            <a:avLst/>
          </a:prstGeom>
          <a:noFill/>
        </p:spPr>
        <p:txBody>
          <a:bodyPr wrap="none" rtlCol="0">
            <a:spAutoFit/>
          </a:bodyPr>
          <a:lstStyle/>
          <a:p>
            <a:r>
              <a:rPr lang="en-US" sz="2400" b="1" dirty="0"/>
              <a:t>OUTLINE</a:t>
            </a:r>
          </a:p>
        </p:txBody>
      </p:sp>
    </p:spTree>
    <p:extLst>
      <p:ext uri="{BB962C8B-B14F-4D97-AF65-F5344CB8AC3E}">
        <p14:creationId xmlns:p14="http://schemas.microsoft.com/office/powerpoint/2010/main" val="81032654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Introduction</a:t>
            </a:r>
            <a:r>
              <a:rPr lang="en-US" dirty="0"/>
              <a:t> </a:t>
            </a:r>
          </a:p>
        </p:txBody>
      </p:sp>
      <p:sp>
        <p:nvSpPr>
          <p:cNvPr id="3" name="Content Placeholder 2"/>
          <p:cNvSpPr>
            <a:spLocks noGrp="1"/>
          </p:cNvSpPr>
          <p:nvPr>
            <p:ph sz="half" idx="2"/>
          </p:nvPr>
        </p:nvSpPr>
        <p:spPr/>
        <p:txBody>
          <a:bodyPr/>
          <a:lstStyle/>
          <a:p>
            <a:r>
              <a:rPr lang="en-US" dirty="0"/>
              <a:t>The cost of academic textbooks has been increasing steadily, making it difficult for many students to afford new books every semester. In most cases, these books are used only for a short period and then remain unused, leading to both financial burden and wastage of resources. Despite this issue, there is no proper or trusted platform in Nepal where students can easily buy and sell second-hand books. This creates a gap between students who want to sell their used books and those looking for affordable alternatives. Therefore, this project aims to develop a second-hand book marketplace that connects students, reduces costs, and promotes reuse in an efficient and reliable way.</a:t>
            </a:r>
          </a:p>
          <a:p>
            <a:endParaRPr lang="en-US" dirty="0"/>
          </a:p>
        </p:txBody>
      </p:sp>
    </p:spTree>
    <p:extLst>
      <p:ext uri="{BB962C8B-B14F-4D97-AF65-F5344CB8AC3E}">
        <p14:creationId xmlns:p14="http://schemas.microsoft.com/office/powerpoint/2010/main" val="278976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Problems / Challenges </a:t>
            </a:r>
            <a:r>
              <a:rPr lang="en-US" dirty="0"/>
              <a:t> </a:t>
            </a:r>
          </a:p>
        </p:txBody>
      </p:sp>
      <p:sp>
        <p:nvSpPr>
          <p:cNvPr id="3" name="Content Placeholder 2"/>
          <p:cNvSpPr>
            <a:spLocks noGrp="1"/>
          </p:cNvSpPr>
          <p:nvPr>
            <p:ph sz="half" idx="2"/>
          </p:nvPr>
        </p:nvSpPr>
        <p:spPr/>
        <p:txBody>
          <a:bodyPr/>
          <a:lstStyle/>
          <a:p>
            <a:pPr>
              <a:buFont typeface="Arial" panose="020B0604020202020204" pitchFamily="34" charset="0"/>
              <a:buChar char="•"/>
            </a:pPr>
            <a:r>
              <a:rPr lang="en-US" dirty="0"/>
              <a:t>High cost of textbooks for students </a:t>
            </a:r>
          </a:p>
          <a:p>
            <a:pPr>
              <a:buFont typeface="Arial" panose="020B0604020202020204" pitchFamily="34" charset="0"/>
              <a:buChar char="•"/>
            </a:pPr>
            <a:r>
              <a:rPr lang="en-US" dirty="0"/>
              <a:t>Lack of centralized resale system </a:t>
            </a:r>
          </a:p>
          <a:p>
            <a:pPr>
              <a:buFont typeface="Arial" panose="020B0604020202020204" pitchFamily="34" charset="0"/>
              <a:buChar char="•"/>
            </a:pPr>
            <a:r>
              <a:rPr lang="en-US" dirty="0"/>
              <a:t>Difficulty in finding specific books </a:t>
            </a:r>
          </a:p>
          <a:p>
            <a:pPr>
              <a:buFont typeface="Arial" panose="020B0604020202020204" pitchFamily="34" charset="0"/>
              <a:buChar char="•"/>
            </a:pPr>
            <a:r>
              <a:rPr lang="en-US" dirty="0"/>
              <a:t>Risk of damaged or overpriced books </a:t>
            </a:r>
          </a:p>
          <a:p>
            <a:pPr>
              <a:buFont typeface="Arial" panose="020B0604020202020204" pitchFamily="34" charset="0"/>
              <a:buChar char="•"/>
            </a:pPr>
            <a:r>
              <a:rPr lang="en-US" dirty="0"/>
              <a:t>No proper trust or verification mechanism </a:t>
            </a:r>
          </a:p>
          <a:p>
            <a:pPr marL="0" indent="0">
              <a:buNone/>
            </a:pPr>
            <a:endParaRPr lang="en-US" dirty="0"/>
          </a:p>
        </p:txBody>
      </p:sp>
    </p:spTree>
    <p:extLst>
      <p:ext uri="{BB962C8B-B14F-4D97-AF65-F5344CB8AC3E}">
        <p14:creationId xmlns:p14="http://schemas.microsoft.com/office/powerpoint/2010/main" val="2793936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Motivation</a:t>
            </a:r>
          </a:p>
        </p:txBody>
      </p:sp>
      <p:sp>
        <p:nvSpPr>
          <p:cNvPr id="3" name="Content Placeholder 2"/>
          <p:cNvSpPr>
            <a:spLocks noGrp="1"/>
          </p:cNvSpPr>
          <p:nvPr>
            <p:ph sz="half" idx="2"/>
          </p:nvPr>
        </p:nvSpPr>
        <p:spPr/>
        <p:txBody>
          <a:bodyPr/>
          <a:lstStyle/>
          <a:p>
            <a:pPr>
              <a:buFont typeface="Arial" panose="020B0604020202020204" pitchFamily="34" charset="0"/>
              <a:buChar char="•"/>
            </a:pPr>
            <a:r>
              <a:rPr lang="en-US" dirty="0"/>
              <a:t>To reduce the financial burden on students </a:t>
            </a:r>
          </a:p>
          <a:p>
            <a:pPr>
              <a:buFont typeface="Arial" panose="020B0604020202020204" pitchFamily="34" charset="0"/>
              <a:buChar char="•"/>
            </a:pPr>
            <a:r>
              <a:rPr lang="en-US" dirty="0"/>
              <a:t>To promote reuse and reduce waste </a:t>
            </a:r>
          </a:p>
          <a:p>
            <a:pPr>
              <a:buFont typeface="Arial" panose="020B0604020202020204" pitchFamily="34" charset="0"/>
              <a:buChar char="•"/>
            </a:pPr>
            <a:r>
              <a:rPr lang="en-US" dirty="0"/>
              <a:t>To create a trusted student-focused platform </a:t>
            </a:r>
          </a:p>
          <a:p>
            <a:pPr>
              <a:buFont typeface="Arial" panose="020B0604020202020204" pitchFamily="34" charset="0"/>
              <a:buChar char="•"/>
            </a:pPr>
            <a:r>
              <a:rPr lang="en-US" dirty="0"/>
              <a:t>To make books more accessible and affordable</a:t>
            </a:r>
          </a:p>
          <a:p>
            <a:pPr marL="0" indent="0">
              <a:buNone/>
            </a:pPr>
            <a:endParaRPr lang="en-US" dirty="0"/>
          </a:p>
        </p:txBody>
      </p:sp>
    </p:spTree>
    <p:extLst>
      <p:ext uri="{BB962C8B-B14F-4D97-AF65-F5344CB8AC3E}">
        <p14:creationId xmlns:p14="http://schemas.microsoft.com/office/powerpoint/2010/main" val="772749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Literature Review</a:t>
            </a:r>
          </a:p>
        </p:txBody>
      </p:sp>
      <p:sp>
        <p:nvSpPr>
          <p:cNvPr id="3" name="Content Placeholder 2"/>
          <p:cNvSpPr>
            <a:spLocks noGrp="1"/>
          </p:cNvSpPr>
          <p:nvPr>
            <p:ph sz="half" idx="2"/>
          </p:nvPr>
        </p:nvSpPr>
        <p:spPr/>
        <p:txBody>
          <a:bodyPr/>
          <a:lstStyle/>
          <a:p>
            <a:pPr>
              <a:buFont typeface="Arial" panose="020B0604020202020204" pitchFamily="34" charset="0"/>
              <a:buChar char="•"/>
            </a:pPr>
            <a:r>
              <a:rPr lang="en-US" dirty="0" err="1"/>
              <a:t>BooksMandala</a:t>
            </a:r>
            <a:r>
              <a:rPr lang="en-US" dirty="0"/>
              <a:t> – focuses mainly on new books, limited resale options </a:t>
            </a:r>
          </a:p>
          <a:p>
            <a:pPr>
              <a:buFont typeface="Arial" panose="020B0604020202020204" pitchFamily="34" charset="0"/>
              <a:buChar char="•"/>
            </a:pPr>
            <a:r>
              <a:rPr lang="en-US" dirty="0" err="1"/>
              <a:t>Daraz</a:t>
            </a:r>
            <a:r>
              <a:rPr lang="en-US" dirty="0"/>
              <a:t> – general e-commerce platform, not specialized for books </a:t>
            </a:r>
          </a:p>
          <a:p>
            <a:pPr>
              <a:buFont typeface="Arial" panose="020B0604020202020204" pitchFamily="34" charset="0"/>
              <a:buChar char="•"/>
            </a:pPr>
            <a:r>
              <a:rPr lang="en-US" dirty="0"/>
              <a:t>Facebook Marketplace – informal system, lacks trust and verification </a:t>
            </a:r>
          </a:p>
          <a:p>
            <a:pPr>
              <a:buFont typeface="Arial" panose="020B0604020202020204" pitchFamily="34" charset="0"/>
              <a:buChar char="•"/>
            </a:pPr>
            <a:r>
              <a:rPr lang="en-US" dirty="0" err="1"/>
              <a:t>ThriftBooks</a:t>
            </a:r>
            <a:r>
              <a:rPr lang="en-US" dirty="0"/>
              <a:t> / </a:t>
            </a:r>
            <a:r>
              <a:rPr lang="en-US" dirty="0" err="1"/>
              <a:t>AbeBooks</a:t>
            </a:r>
            <a:r>
              <a:rPr lang="en-US" dirty="0"/>
              <a:t> – global platforms, not localized for Nepal</a:t>
            </a:r>
          </a:p>
          <a:p>
            <a:pPr marL="0" indent="0">
              <a:buNone/>
            </a:pPr>
            <a:endParaRPr lang="en-US" dirty="0"/>
          </a:p>
        </p:txBody>
      </p:sp>
    </p:spTree>
    <p:extLst>
      <p:ext uri="{BB962C8B-B14F-4D97-AF65-F5344CB8AC3E}">
        <p14:creationId xmlns:p14="http://schemas.microsoft.com/office/powerpoint/2010/main" val="543363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Objectives</a:t>
            </a:r>
          </a:p>
        </p:txBody>
      </p:sp>
      <p:sp>
        <p:nvSpPr>
          <p:cNvPr id="3" name="Content Placeholder 2"/>
          <p:cNvSpPr>
            <a:spLocks noGrp="1"/>
          </p:cNvSpPr>
          <p:nvPr>
            <p:ph sz="half" idx="2"/>
          </p:nvPr>
        </p:nvSpPr>
        <p:spPr/>
        <p:txBody>
          <a:bodyPr/>
          <a:lstStyle/>
          <a:p>
            <a:pPr>
              <a:buFont typeface="Arial" panose="020B0604020202020204" pitchFamily="34" charset="0"/>
              <a:buChar char="•"/>
            </a:pPr>
            <a:r>
              <a:rPr lang="en-US" dirty="0"/>
              <a:t>Develop a user-friendly resale platform </a:t>
            </a:r>
          </a:p>
          <a:p>
            <a:pPr>
              <a:buFont typeface="Arial" panose="020B0604020202020204" pitchFamily="34" charset="0"/>
              <a:buChar char="•"/>
            </a:pPr>
            <a:r>
              <a:rPr lang="en-US" dirty="0"/>
              <a:t>Enable easy buying and selling of books </a:t>
            </a:r>
          </a:p>
          <a:p>
            <a:pPr>
              <a:buFont typeface="Arial" panose="020B0604020202020204" pitchFamily="34" charset="0"/>
              <a:buChar char="•"/>
            </a:pPr>
            <a:r>
              <a:rPr lang="en-US" dirty="0"/>
              <a:t>Ensure trust through ratings and reviews </a:t>
            </a:r>
          </a:p>
          <a:p>
            <a:pPr>
              <a:buFont typeface="Arial" panose="020B0604020202020204" pitchFamily="34" charset="0"/>
              <a:buChar char="•"/>
            </a:pPr>
            <a:r>
              <a:rPr lang="en-US" dirty="0"/>
              <a:t>Provide affordable learning resources </a:t>
            </a:r>
          </a:p>
          <a:p>
            <a:pPr>
              <a:buFont typeface="Arial" panose="020B0604020202020204" pitchFamily="34" charset="0"/>
              <a:buChar char="•"/>
            </a:pPr>
            <a:r>
              <a:rPr lang="en-US" dirty="0"/>
              <a:t>Encourage sustainable practices</a:t>
            </a:r>
          </a:p>
          <a:p>
            <a:pPr marL="0" indent="0">
              <a:buNone/>
            </a:pPr>
            <a:endParaRPr lang="en-US" dirty="0"/>
          </a:p>
        </p:txBody>
      </p:sp>
    </p:spTree>
    <p:extLst>
      <p:ext uri="{BB962C8B-B14F-4D97-AF65-F5344CB8AC3E}">
        <p14:creationId xmlns:p14="http://schemas.microsoft.com/office/powerpoint/2010/main" val="1629281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Methodology</a:t>
            </a:r>
          </a:p>
        </p:txBody>
      </p:sp>
      <p:sp>
        <p:nvSpPr>
          <p:cNvPr id="3" name="Content Placeholder 2"/>
          <p:cNvSpPr>
            <a:spLocks noGrp="1"/>
          </p:cNvSpPr>
          <p:nvPr>
            <p:ph sz="half" idx="2"/>
          </p:nvPr>
        </p:nvSpPr>
        <p:spPr/>
        <p:txBody>
          <a:bodyPr/>
          <a:lstStyle/>
          <a:p>
            <a:pPr>
              <a:buFont typeface="Arial" panose="020B0604020202020204" pitchFamily="34" charset="0"/>
              <a:buChar char="•"/>
            </a:pPr>
            <a:r>
              <a:rPr lang="en-US" dirty="0"/>
              <a:t>Users register and log in to the system </a:t>
            </a:r>
          </a:p>
          <a:p>
            <a:pPr>
              <a:buFont typeface="Arial" panose="020B0604020202020204" pitchFamily="34" charset="0"/>
              <a:buChar char="•"/>
            </a:pPr>
            <a:r>
              <a:rPr lang="en-US" dirty="0"/>
              <a:t>Sellers upload book details (price, condition, images) </a:t>
            </a:r>
          </a:p>
          <a:p>
            <a:pPr>
              <a:buFont typeface="Arial" panose="020B0604020202020204" pitchFamily="34" charset="0"/>
              <a:buChar char="•"/>
            </a:pPr>
            <a:r>
              <a:rPr lang="en-US" dirty="0"/>
              <a:t>Buyers search and filter books based on needs </a:t>
            </a:r>
          </a:p>
          <a:p>
            <a:pPr>
              <a:buFont typeface="Arial" panose="020B0604020202020204" pitchFamily="34" charset="0"/>
              <a:buChar char="•"/>
            </a:pPr>
            <a:r>
              <a:rPr lang="en-US" dirty="0"/>
              <a:t>Buyers contact sellers through platform </a:t>
            </a:r>
          </a:p>
          <a:p>
            <a:pPr>
              <a:buFont typeface="Arial" panose="020B0604020202020204" pitchFamily="34" charset="0"/>
              <a:buChar char="•"/>
            </a:pPr>
            <a:r>
              <a:rPr lang="en-US" dirty="0"/>
              <a:t>Transaction is completed and feedback is given</a:t>
            </a:r>
          </a:p>
          <a:p>
            <a:pPr marL="0" indent="0">
              <a:buNone/>
            </a:pPr>
            <a:endParaRPr lang="en-US" dirty="0"/>
          </a:p>
        </p:txBody>
      </p:sp>
    </p:spTree>
    <p:extLst>
      <p:ext uri="{BB962C8B-B14F-4D97-AF65-F5344CB8AC3E}">
        <p14:creationId xmlns:p14="http://schemas.microsoft.com/office/powerpoint/2010/main" val="2346409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576" y="403585"/>
            <a:ext cx="9389440" cy="554587"/>
          </a:xfrm>
        </p:spPr>
        <p:txBody>
          <a:bodyPr/>
          <a:lstStyle/>
          <a:p>
            <a:r>
              <a:rPr lang="en-US" b="1" dirty="0"/>
              <a:t>  Feasibility</a:t>
            </a:r>
            <a:br>
              <a:rPr lang="en-US" b="1" dirty="0"/>
            </a:br>
            <a:endParaRPr lang="en-US" b="1" dirty="0"/>
          </a:p>
        </p:txBody>
      </p:sp>
      <p:sp>
        <p:nvSpPr>
          <p:cNvPr id="3" name="Content Placeholder 2"/>
          <p:cNvSpPr>
            <a:spLocks noGrp="1"/>
          </p:cNvSpPr>
          <p:nvPr>
            <p:ph sz="half" idx="2"/>
          </p:nvPr>
        </p:nvSpPr>
        <p:spPr/>
        <p:txBody>
          <a:bodyPr/>
          <a:lstStyle/>
          <a:p>
            <a:r>
              <a:rPr lang="en-US" b="1" dirty="0"/>
              <a:t>Technical:</a:t>
            </a:r>
            <a:r>
              <a:rPr lang="en-US" dirty="0"/>
              <a:t> Can be implemented using standard web technologies</a:t>
            </a:r>
          </a:p>
          <a:p>
            <a:pPr marL="0" indent="0">
              <a:buNone/>
            </a:pPr>
            <a:r>
              <a:rPr lang="en-US" b="1" dirty="0"/>
              <a:t> </a:t>
            </a:r>
          </a:p>
          <a:p>
            <a:r>
              <a:rPr lang="en-US" b="1" dirty="0"/>
              <a:t>Economic:</a:t>
            </a:r>
            <a:r>
              <a:rPr lang="en-US" dirty="0"/>
              <a:t> Low cost as it requires minimal infrastructure </a:t>
            </a:r>
          </a:p>
          <a:p>
            <a:endParaRPr lang="en-US" dirty="0"/>
          </a:p>
          <a:p>
            <a:r>
              <a:rPr lang="en-US" b="1" dirty="0"/>
              <a:t>Operational:</a:t>
            </a:r>
            <a:r>
              <a:rPr lang="en-US" dirty="0"/>
              <a:t> Easy to use for students with basic internet access</a:t>
            </a:r>
            <a:br>
              <a:rPr lang="en-US" dirty="0"/>
            </a:br>
            <a:endParaRPr lang="en-US" dirty="0"/>
          </a:p>
          <a:p>
            <a:r>
              <a:rPr lang="en-US" b="1" dirty="0"/>
              <a:t>Time:</a:t>
            </a:r>
            <a:r>
              <a:rPr lang="en-US" dirty="0"/>
              <a:t> Project can be completed within given semester duration</a:t>
            </a:r>
          </a:p>
          <a:p>
            <a:pPr marL="0" indent="0">
              <a:buNone/>
            </a:pPr>
            <a:endParaRPr lang="en-US" dirty="0"/>
          </a:p>
        </p:txBody>
      </p:sp>
    </p:spTree>
    <p:extLst>
      <p:ext uri="{BB962C8B-B14F-4D97-AF65-F5344CB8AC3E}">
        <p14:creationId xmlns:p14="http://schemas.microsoft.com/office/powerpoint/2010/main" val="864243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576" y="403585"/>
            <a:ext cx="9389440" cy="1341325"/>
          </a:xfrm>
        </p:spPr>
        <p:txBody>
          <a:bodyPr/>
          <a:lstStyle/>
          <a:p>
            <a:r>
              <a:rPr lang="en-US" b="1" dirty="0"/>
              <a:t>  Gantt Chart</a:t>
            </a:r>
            <a:br>
              <a:rPr lang="en-US" b="1" dirty="0"/>
            </a:br>
            <a:br>
              <a:rPr lang="en-US" b="1" dirty="0"/>
            </a:br>
            <a:endParaRPr lang="en-US" b="1" dirty="0"/>
          </a:p>
        </p:txBody>
      </p:sp>
      <p:pic>
        <p:nvPicPr>
          <p:cNvPr id="8" name="Content Placeholder 7" descr="A screenshot of a computer screen&#10;&#10;Description automatically generated">
            <a:extLst>
              <a:ext uri="{FF2B5EF4-FFF2-40B4-BE49-F238E27FC236}">
                <a16:creationId xmlns:a16="http://schemas.microsoft.com/office/drawing/2014/main" id="{27909E27-832D-7B6C-9793-7EDE3A346E7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393246" y="1231900"/>
            <a:ext cx="11405507" cy="5222875"/>
          </a:xfrm>
        </p:spPr>
      </p:pic>
    </p:spTree>
    <p:extLst>
      <p:ext uri="{BB962C8B-B14F-4D97-AF65-F5344CB8AC3E}">
        <p14:creationId xmlns:p14="http://schemas.microsoft.com/office/powerpoint/2010/main" val="1027131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576" y="403585"/>
            <a:ext cx="9389440" cy="1341325"/>
          </a:xfrm>
        </p:spPr>
        <p:txBody>
          <a:bodyPr/>
          <a:lstStyle/>
          <a:p>
            <a:br>
              <a:rPr lang="en-US" b="1" dirty="0"/>
            </a:br>
            <a:r>
              <a:rPr lang="en-US" b="1" dirty="0"/>
              <a:t> Tech Stack</a:t>
            </a:r>
            <a:br>
              <a:rPr lang="en-US" b="1" dirty="0"/>
            </a:br>
            <a:br>
              <a:rPr lang="en-US" b="1" dirty="0"/>
            </a:br>
            <a:br>
              <a:rPr lang="en-US" b="1" dirty="0"/>
            </a:br>
            <a:endParaRPr lang="en-US" b="1" dirty="0"/>
          </a:p>
        </p:txBody>
      </p:sp>
      <p:sp>
        <p:nvSpPr>
          <p:cNvPr id="3" name="Content Placeholder 2"/>
          <p:cNvSpPr>
            <a:spLocks noGrp="1"/>
          </p:cNvSpPr>
          <p:nvPr>
            <p:ph sz="half" idx="2"/>
          </p:nvPr>
        </p:nvSpPr>
        <p:spPr/>
        <p:txBody>
          <a:bodyPr/>
          <a:lstStyle/>
          <a:p>
            <a:pPr>
              <a:buFont typeface="Arial" panose="020B0604020202020204" pitchFamily="34" charset="0"/>
              <a:buChar char="•"/>
            </a:pPr>
            <a:r>
              <a:rPr lang="en-US" dirty="0"/>
              <a:t>Frontend: HTML, CSS, JavaScript </a:t>
            </a:r>
          </a:p>
          <a:p>
            <a:pPr>
              <a:buFont typeface="Arial" panose="020B0604020202020204" pitchFamily="34" charset="0"/>
              <a:buChar char="•"/>
            </a:pPr>
            <a:r>
              <a:rPr lang="en-US" dirty="0"/>
              <a:t>Backend: PHP or Node.js </a:t>
            </a:r>
          </a:p>
          <a:p>
            <a:pPr>
              <a:buFont typeface="Arial" panose="020B0604020202020204" pitchFamily="34" charset="0"/>
              <a:buChar char="•"/>
            </a:pPr>
            <a:r>
              <a:rPr lang="en-US" dirty="0"/>
              <a:t>Database: MySQL </a:t>
            </a:r>
          </a:p>
          <a:p>
            <a:pPr>
              <a:buFont typeface="Arial" panose="020B0604020202020204" pitchFamily="34" charset="0"/>
              <a:buChar char="•"/>
            </a:pPr>
            <a:r>
              <a:rPr lang="en-US" dirty="0"/>
              <a:t>Tools: VS Code, GitHub</a:t>
            </a:r>
          </a:p>
          <a:p>
            <a:pPr marL="0" indent="0">
              <a:buNone/>
            </a:pPr>
            <a:endParaRPr lang="en-US" dirty="0"/>
          </a:p>
        </p:txBody>
      </p:sp>
    </p:spTree>
    <p:extLst>
      <p:ext uri="{BB962C8B-B14F-4D97-AF65-F5344CB8AC3E}">
        <p14:creationId xmlns:p14="http://schemas.microsoft.com/office/powerpoint/2010/main" val="582597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576" y="403585"/>
            <a:ext cx="9389440" cy="1341325"/>
          </a:xfrm>
        </p:spPr>
        <p:txBody>
          <a:bodyPr/>
          <a:lstStyle/>
          <a:p>
            <a:br>
              <a:rPr lang="en-US" b="1" dirty="0"/>
            </a:br>
            <a:r>
              <a:rPr lang="en-US" b="1" dirty="0"/>
              <a:t> </a:t>
            </a:r>
            <a:br>
              <a:rPr lang="en-US" b="1" dirty="0"/>
            </a:br>
            <a:r>
              <a:rPr lang="en-US" b="1" dirty="0"/>
              <a:t> Comparison</a:t>
            </a:r>
            <a:br>
              <a:rPr lang="en-US" b="1" dirty="0"/>
            </a:br>
            <a:br>
              <a:rPr lang="en-US" b="1" dirty="0"/>
            </a:br>
            <a:br>
              <a:rPr lang="en-US" b="1" dirty="0"/>
            </a:br>
            <a:br>
              <a:rPr lang="en-US" b="1" dirty="0"/>
            </a:br>
            <a:endParaRPr lang="en-US" b="1" dirty="0"/>
          </a:p>
        </p:txBody>
      </p:sp>
      <p:sp>
        <p:nvSpPr>
          <p:cNvPr id="3" name="Content Placeholder 2"/>
          <p:cNvSpPr>
            <a:spLocks noGrp="1"/>
          </p:cNvSpPr>
          <p:nvPr>
            <p:ph sz="half" idx="2"/>
          </p:nvPr>
        </p:nvSpPr>
        <p:spPr/>
        <p:txBody>
          <a:bodyPr/>
          <a:lstStyle/>
          <a:p>
            <a:pPr>
              <a:buFont typeface="Arial" panose="020B0604020202020204" pitchFamily="34" charset="0"/>
              <a:buChar char="•"/>
            </a:pPr>
            <a:r>
              <a:rPr lang="en-US" b="1" dirty="0"/>
              <a:t>International Platforms (</a:t>
            </a:r>
            <a:r>
              <a:rPr lang="en-US" b="1" dirty="0" err="1"/>
              <a:t>ThriftBooks</a:t>
            </a:r>
            <a:r>
              <a:rPr lang="en-US" b="1" dirty="0"/>
              <a:t>, </a:t>
            </a:r>
            <a:r>
              <a:rPr lang="en-US" b="1" dirty="0" err="1"/>
              <a:t>AbeBooks</a:t>
            </a:r>
            <a:r>
              <a:rPr lang="en-US" b="1" dirty="0"/>
              <a:t>)</a:t>
            </a:r>
            <a:br>
              <a:rPr lang="en-US" dirty="0"/>
            </a:br>
            <a:r>
              <a:rPr lang="en-US" dirty="0"/>
              <a:t>→ Large variety of books globally</a:t>
            </a:r>
            <a:br>
              <a:rPr lang="en-US" dirty="0"/>
            </a:br>
            <a:r>
              <a:rPr lang="en-US" dirty="0"/>
              <a:t>→ High delivery time and cost in Nepal</a:t>
            </a:r>
            <a:br>
              <a:rPr lang="en-US" dirty="0"/>
            </a:br>
            <a:r>
              <a:rPr lang="en-US" dirty="0"/>
              <a:t>→ Not focused on local student needs </a:t>
            </a:r>
          </a:p>
          <a:p>
            <a:pPr>
              <a:buFont typeface="Arial" panose="020B0604020202020204" pitchFamily="34" charset="0"/>
              <a:buChar char="•"/>
            </a:pPr>
            <a:r>
              <a:rPr lang="en-US" b="1" dirty="0"/>
              <a:t>Local Platforms (</a:t>
            </a:r>
            <a:r>
              <a:rPr lang="en-US" b="1" dirty="0" err="1"/>
              <a:t>BooksMandala</a:t>
            </a:r>
            <a:r>
              <a:rPr lang="en-US" b="1" dirty="0"/>
              <a:t>, </a:t>
            </a:r>
            <a:r>
              <a:rPr lang="en-US" b="1" dirty="0" err="1"/>
              <a:t>Daraz</a:t>
            </a:r>
            <a:r>
              <a:rPr lang="en-US" b="1" dirty="0"/>
              <a:t>, Facebook Marketplace)</a:t>
            </a:r>
            <a:br>
              <a:rPr lang="en-US" dirty="0"/>
            </a:br>
            <a:r>
              <a:rPr lang="en-US" dirty="0"/>
              <a:t>→ Mostly sell new books or general products</a:t>
            </a:r>
            <a:br>
              <a:rPr lang="en-US" dirty="0"/>
            </a:br>
            <a:r>
              <a:rPr lang="en-US" dirty="0"/>
              <a:t>→ No proper system for resale, trust, or verification</a:t>
            </a:r>
            <a:br>
              <a:rPr lang="en-US" dirty="0"/>
            </a:br>
            <a:r>
              <a:rPr lang="en-US" dirty="0"/>
              <a:t>→ Informal and not student-focused </a:t>
            </a:r>
          </a:p>
          <a:p>
            <a:pPr>
              <a:buFont typeface="Arial" panose="020B0604020202020204" pitchFamily="34" charset="0"/>
              <a:buChar char="•"/>
            </a:pPr>
            <a:r>
              <a:rPr lang="en-US" b="1" dirty="0"/>
              <a:t>Proposed System (Our Project)</a:t>
            </a:r>
            <a:br>
              <a:rPr lang="en-US" dirty="0"/>
            </a:br>
            <a:r>
              <a:rPr lang="en-US" dirty="0"/>
              <a:t>→ Designed specifically for students in Nepal</a:t>
            </a:r>
            <a:br>
              <a:rPr lang="en-US" dirty="0"/>
            </a:br>
            <a:r>
              <a:rPr lang="en-US" dirty="0"/>
              <a:t>→ Direct buyer-seller interaction</a:t>
            </a:r>
            <a:br>
              <a:rPr lang="en-US" dirty="0"/>
            </a:br>
            <a:r>
              <a:rPr lang="en-US" dirty="0"/>
              <a:t>→ Low cost and faster exchange</a:t>
            </a:r>
            <a:br>
              <a:rPr lang="en-US" dirty="0"/>
            </a:br>
            <a:r>
              <a:rPr lang="en-US" dirty="0"/>
              <a:t>→ Includes ratings and condition-based system</a:t>
            </a:r>
          </a:p>
        </p:txBody>
      </p:sp>
    </p:spTree>
    <p:extLst>
      <p:ext uri="{BB962C8B-B14F-4D97-AF65-F5344CB8AC3E}">
        <p14:creationId xmlns:p14="http://schemas.microsoft.com/office/powerpoint/2010/main" val="2042179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575" y="713979"/>
            <a:ext cx="9010870" cy="586316"/>
          </a:xfrm>
        </p:spPr>
        <p:txBody>
          <a:bodyPr/>
          <a:lstStyle/>
          <a:p>
            <a:br>
              <a:rPr lang="en-US" b="1" dirty="0"/>
            </a:br>
            <a:r>
              <a:rPr lang="en-US" b="1" dirty="0"/>
              <a:t> </a:t>
            </a:r>
            <a:br>
              <a:rPr lang="en-US" b="1" dirty="0"/>
            </a:br>
            <a:r>
              <a:rPr lang="en-US" b="1" dirty="0"/>
              <a:t> Conclusion</a:t>
            </a:r>
            <a:br>
              <a:rPr lang="en-US" b="1" dirty="0"/>
            </a:br>
            <a:br>
              <a:rPr lang="en-US" b="1" dirty="0"/>
            </a:br>
            <a:br>
              <a:rPr lang="en-US" b="1" dirty="0"/>
            </a:br>
            <a:br>
              <a:rPr lang="en-US" b="1" dirty="0"/>
            </a:br>
            <a:endParaRPr lang="en-US" b="1" dirty="0"/>
          </a:p>
        </p:txBody>
      </p:sp>
      <p:sp>
        <p:nvSpPr>
          <p:cNvPr id="3" name="Content Placeholder 2"/>
          <p:cNvSpPr>
            <a:spLocks noGrp="1"/>
          </p:cNvSpPr>
          <p:nvPr>
            <p:ph sz="half" idx="2"/>
          </p:nvPr>
        </p:nvSpPr>
        <p:spPr/>
        <p:txBody>
          <a:bodyPr/>
          <a:lstStyle/>
          <a:p>
            <a:r>
              <a:rPr lang="en-US" dirty="0"/>
              <a:t>The proposed system provides a practical and effective solution to a common problem faced by students. It helps reduce the cost of education by enabling students to buy and sell second-hand books at affordable prices. At the same time, it promotes the reuse of resources, reducing unnecessary waste.</a:t>
            </a:r>
          </a:p>
          <a:p>
            <a:r>
              <a:rPr lang="en-US" dirty="0"/>
              <a:t>By offering a simple, reliable, and student-focused platform, the system improves accessibility to study materials and builds trust between buyers and sellers. Furthermore, the project has strong potential for future expansion, such as integrating online payments, delivery services, and mobile applications, making it a scalable solution for real-world implementation in Nepal</a:t>
            </a:r>
          </a:p>
        </p:txBody>
      </p:sp>
    </p:spTree>
    <p:extLst>
      <p:ext uri="{BB962C8B-B14F-4D97-AF65-F5344CB8AC3E}">
        <p14:creationId xmlns:p14="http://schemas.microsoft.com/office/powerpoint/2010/main" val="32831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5218" y="2971801"/>
            <a:ext cx="3543046" cy="711200"/>
          </a:xfrm>
        </p:spPr>
        <p:txBody>
          <a:bodyPr/>
          <a:lstStyle/>
          <a:p>
            <a:r>
              <a:rPr lang="en-US"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167977639"/>
      </p:ext>
    </p:extLst>
  </p:cSld>
  <p:clrMapOvr>
    <a:masterClrMapping/>
  </p:clrMapOvr>
</p:sld>
</file>

<file path=ppt/theme/theme1.xml><?xml version="1.0" encoding="utf-8"?>
<a:theme xmlns:a="http://schemas.openxmlformats.org/drawingml/2006/main" name="IITR_PPT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IITR_template_sudiproy.pptx" id="{E7BE3218-A97E-4E6F-BE9F-92D6192B2CD5}" vid="{3EDE8FBA-E8F1-4B0B-AEA8-7DC234A91AE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IITR_template_sudiproy</Template>
  <TotalTime>346</TotalTime>
  <Words>644</Words>
  <Application>Microsoft Office PowerPoint</Application>
  <PresentationFormat>Widescreen</PresentationFormat>
  <Paragraphs>70</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Franklin Gothic Demi</vt:lpstr>
      <vt:lpstr>IITR_PPT_Template</vt:lpstr>
      <vt:lpstr>Title</vt:lpstr>
      <vt:lpstr>PowerPoint Presentation</vt:lpstr>
      <vt:lpstr>Introduction </vt:lpstr>
      <vt:lpstr>Problems / Challenges  </vt:lpstr>
      <vt:lpstr> Motivation</vt:lpstr>
      <vt:lpstr>Literature Review</vt:lpstr>
      <vt:lpstr> Objectives</vt:lpstr>
      <vt:lpstr> Methodology</vt:lpstr>
      <vt:lpstr>  Feasibility </vt:lpstr>
      <vt:lpstr>  Gantt Chart  </vt:lpstr>
      <vt:lpstr>  Tech Stack   </vt:lpstr>
      <vt:lpstr>    Comparison    </vt:lpstr>
      <vt:lpstr>    Conclusion    </vt:lpstr>
      <vt:lpstr>THANK YOU…</vt:lpstr>
    </vt:vector>
  </TitlesOfParts>
  <Manager>Dr. Sudip Roy</Manager>
  <Company>IIT Roorkee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IITR PPT Template</dc:subject>
  <dc:creator>Dr. Sudip Roy</dc:creator>
  <cp:lastModifiedBy>Rojin Ghimire</cp:lastModifiedBy>
  <cp:revision>73</cp:revision>
  <dcterms:created xsi:type="dcterms:W3CDTF">2015-07-18T13:17:54Z</dcterms:created>
  <dcterms:modified xsi:type="dcterms:W3CDTF">2026-05-05T03:54:12Z</dcterms:modified>
  <cp:version>v1</cp:version>
</cp:coreProperties>
</file>